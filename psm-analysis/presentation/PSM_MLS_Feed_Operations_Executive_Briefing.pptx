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B8A0"/>
                </a:solidFill>
                <a:latin typeface="Calibri"/>
              </a:defRPr>
            </a:pPr>
            <a:r>
              <a:t>PSM TECHNICAL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EF5"/>
                </a:solidFill>
                <a:latin typeface="Calibri"/>
              </a:defRPr>
            </a:pPr>
            <a:r>
              <a:t>MLS Data Feed Operations:</a:t>
            </a:r>
            <a:br/>
            <a:r>
              <a:t>Pipeline Health &amp; Implementation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97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A0B8"/>
                </a:solidFill>
                <a:latin typeface="Calibri"/>
              </a:defRPr>
            </a:pPr>
            <a:r>
              <a:t>Executive briefing on Sample Data 1 (feed onboarding workflow) and Sample Data 2 (MLS feed implementation assets)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5D4E8"/>
                </a:solidFill>
                <a:latin typeface="Calibri"/>
              </a:defRPr>
            </a:pPr>
            <a:r>
              <a:t>Analysis of 403 onboarding requests across 201 MLSs  ·  565 feed assets across 325 MLSs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EEF5"/>
                </a:solidFill>
                <a:latin typeface="Calibri"/>
              </a:defRPr>
            </a:pPr>
            <a:r>
              <a:t>01  —  What These Datasets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A0B8"/>
                </a:solidFill>
                <a:latin typeface="Calibri"/>
              </a:defRPr>
            </a:pPr>
            <a:r>
              <a:t>Both datasets describe MLS listing-data feed operations for a real-estate technology platform (IDX / Back Office / VOW).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394960" cy="5029200"/>
          </a:xfrm>
          <a:prstGeom prst="roundRect">
            <a:avLst>
              <a:gd name="adj" fmla="val 8000"/>
            </a:avLst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80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B8A0"/>
                </a:solidFill>
                <a:latin typeface="Calibri"/>
              </a:defRPr>
            </a:pPr>
            <a:r>
              <a:t>SAMPLE DATA 1 — Feed Onboarding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5D4E8"/>
                </a:solidFill>
                <a:latin typeface="Calibri"/>
              </a:defRPr>
            </a:pPr>
            <a:r>
              <a:t>Tracks individual broker/MLS feed activation requests end-to-end.</a:t>
            </a:r>
          </a:p>
          <a:p>
            <a:pPr>
              <a:spcAft>
                <a:spcPts val="600"/>
              </a:spcAft>
              <a:defRPr sz="600" b="0">
                <a:solidFill>
                  <a:srgbClr val="E8EEF5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E8EEF5"/>
                </a:solidFill>
                <a:latin typeface="Calibri"/>
              </a:defRPr>
            </a:pPr>
            <a:r>
              <a:t>Column B (MLS): which MLS the feed is being activated against.</a:t>
            </a:r>
          </a:p>
          <a:p>
            <a:pPr>
              <a:spcAft>
                <a:spcPts val="600"/>
              </a:spcAft>
              <a:defRPr sz="1300" b="0">
                <a:solidFill>
                  <a:srgbClr val="E8EEF5"/>
                </a:solidFill>
                <a:latin typeface="Calibri"/>
              </a:defRPr>
            </a:pPr>
            <a:r>
              <a:t>Columns Q–X: semi-sequential stage timestamps —</a:t>
            </a:r>
          </a:p>
          <a:p>
            <a:pPr>
              <a:spcAft>
                <a:spcPts val="600"/>
              </a:spcAft>
              <a:defRPr sz="1200" b="0">
                <a:solidFill>
                  <a:srgbClr val="8AA0B8"/>
                </a:solidFill>
                <a:latin typeface="Calibri"/>
              </a:defRPr>
            </a:pPr>
            <a:r>
              <a:t>New → Ready for Compliance → Pending Broker/CWS/MLS →</a:t>
            </a:r>
          </a:p>
          <a:p>
            <a:pPr>
              <a:spcAft>
                <a:spcPts val="600"/>
              </a:spcAft>
              <a:defRPr sz="1200" b="0">
                <a:solidFill>
                  <a:srgbClr val="8AA0B8"/>
                </a:solidFill>
                <a:latin typeface="Calibri"/>
              </a:defRPr>
            </a:pPr>
            <a:r>
              <a:t>Provisioning → Approved Complete.</a:t>
            </a:r>
          </a:p>
          <a:p>
            <a:pPr>
              <a:spcAft>
                <a:spcPts val="600"/>
              </a:spcAft>
              <a:defRPr sz="600" b="0">
                <a:solidFill>
                  <a:srgbClr val="E8EEF5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E8EEF5"/>
                </a:solidFill>
                <a:latin typeface="Calibri"/>
              </a:defRPr>
            </a:pPr>
            <a:r>
              <a:t>Also captures: feed status, agreement channel (eSign, Trestle,</a:t>
            </a:r>
          </a:p>
          <a:p>
            <a:pPr>
              <a:spcAft>
                <a:spcPts val="600"/>
              </a:spcAft>
              <a:defRPr sz="1300" b="0">
                <a:solidFill>
                  <a:srgbClr val="E8EEF5"/>
                </a:solidFill>
                <a:latin typeface="Calibri"/>
              </a:defRPr>
            </a:pPr>
            <a:r>
              <a:t>Spark, MLS Grid, broker-initiated), access level (IDX / Back</a:t>
            </a:r>
          </a:p>
          <a:p>
            <a:pPr>
              <a:spcAft>
                <a:spcPts val="600"/>
              </a:spcAft>
              <a:defRPr sz="1300" b="0">
                <a:solidFill>
                  <a:srgbClr val="E8EEF5"/>
                </a:solidFill>
                <a:latin typeface="Calibri"/>
              </a:defRPr>
            </a:pPr>
            <a:r>
              <a:t>Office / VOW), DLM owner, state, and compliance artifacts.</a:t>
            </a:r>
          </a:p>
          <a:p>
            <a:pPr>
              <a:spcAft>
                <a:spcPts val="600"/>
              </a:spcAft>
              <a:defRPr sz="600" b="0">
                <a:solidFill>
                  <a:srgbClr val="E8EEF5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 b="1">
                <a:solidFill>
                  <a:srgbClr val="F0A05A"/>
                </a:solidFill>
                <a:latin typeface="Calibri"/>
              </a:defRPr>
            </a:pPr>
            <a:r>
              <a:t>403 requests · 201 unique MLSs · mostly IDX+Back Office pairs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394960" cy="5029200"/>
          </a:xfrm>
          <a:prstGeom prst="roundRect">
            <a:avLst>
              <a:gd name="adj" fmla="val 8000"/>
            </a:avLst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80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B9FD4"/>
                </a:solidFill>
                <a:latin typeface="Calibri"/>
              </a:defRPr>
            </a:pPr>
            <a:r>
              <a:t>SAMPLE DATA 2 — Feed Implementation 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5D4E8"/>
                </a:solidFill>
                <a:latin typeface="Calibri"/>
              </a:defRPr>
            </a:pPr>
            <a:r>
              <a:t>Tracks MLS-level data-feed assets and how they were set up.</a:t>
            </a:r>
          </a:p>
          <a:p>
            <a:pPr>
              <a:spcAft>
                <a:spcPts val="600"/>
              </a:spcAft>
              <a:defRPr sz="600" b="0">
                <a:solidFill>
                  <a:srgbClr val="E8EEF5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E8EEF5"/>
                </a:solidFill>
                <a:latin typeface="Calibri"/>
              </a:defRPr>
            </a:pPr>
            <a:r>
              <a:t>Asset Name: the MLS providing listing data.</a:t>
            </a:r>
          </a:p>
          <a:p>
            <a:pPr>
              <a:spcAft>
                <a:spcPts val="600"/>
              </a:spcAft>
              <a:defRPr sz="1300" b="0">
                <a:solidFill>
                  <a:srgbClr val="E8EEF5"/>
                </a:solidFill>
                <a:latin typeface="Calibri"/>
              </a:defRPr>
            </a:pPr>
            <a:r>
              <a:t>Feed Type: implementation / contracting method —</a:t>
            </a:r>
          </a:p>
          <a:p>
            <a:pPr>
              <a:spcAft>
                <a:spcPts val="600"/>
              </a:spcAft>
              <a:defRPr sz="1200" b="0">
                <a:solidFill>
                  <a:srgbClr val="8AA0B8"/>
                </a:solidFill>
                <a:latin typeface="Calibri"/>
              </a:defRPr>
            </a:pPr>
            <a:r>
              <a:t>Hard Copy, Electronic Trestle/Grid, CWS-initiated,</a:t>
            </a:r>
          </a:p>
          <a:p>
            <a:pPr>
              <a:spcAft>
                <a:spcPts val="600"/>
              </a:spcAft>
              <a:defRPr sz="1200" b="0">
                <a:solidFill>
                  <a:srgbClr val="8AA0B8"/>
                </a:solidFill>
                <a:latin typeface="Calibri"/>
              </a:defRPr>
            </a:pPr>
            <a:r>
              <a:t>or Member-initiated (with/without portal).</a:t>
            </a:r>
          </a:p>
          <a:p>
            <a:pPr>
              <a:spcAft>
                <a:spcPts val="600"/>
              </a:spcAft>
              <a:defRPr sz="600" b="0">
                <a:solidFill>
                  <a:srgbClr val="E8EEF5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E8EEF5"/>
                </a:solidFill>
                <a:latin typeface="Calibri"/>
              </a:defRPr>
            </a:pPr>
            <a:r>
              <a:t>Feed Product: IDX, Back Office, or VOW feed.</a:t>
            </a:r>
          </a:p>
          <a:p>
            <a:pPr>
              <a:spcAft>
                <a:spcPts val="600"/>
              </a:spcAft>
              <a:defRPr sz="1300" b="0">
                <a:solidFill>
                  <a:srgbClr val="E8EEF5"/>
                </a:solidFill>
                <a:latin typeface="Calibri"/>
              </a:defRPr>
            </a:pPr>
            <a:r>
              <a:t>Days Opened (Average): how long the feed ticket/asset</a:t>
            </a:r>
          </a:p>
          <a:p>
            <a:pPr>
              <a:spcAft>
                <a:spcPts val="600"/>
              </a:spcAft>
              <a:defRPr sz="1300" b="0">
                <a:solidFill>
                  <a:srgbClr val="E8EEF5"/>
                </a:solidFill>
                <a:latin typeface="Calibri"/>
              </a:defRPr>
            </a:pPr>
            <a:r>
              <a:t>remained open — a proxy for implementation friction.</a:t>
            </a:r>
          </a:p>
          <a:p>
            <a:pPr>
              <a:spcAft>
                <a:spcPts val="600"/>
              </a:spcAft>
              <a:defRPr sz="600" b="0">
                <a:solidFill>
                  <a:srgbClr val="E8EEF5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200" b="1">
                <a:solidFill>
                  <a:srgbClr val="F0A05A"/>
                </a:solidFill>
                <a:latin typeface="Calibri"/>
              </a:defRPr>
            </a:pPr>
            <a:r>
              <a:t>565 assets · 325 unique MLSs · median 17 days open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EEF5"/>
                </a:solidFill>
                <a:latin typeface="Calibri"/>
              </a:defRPr>
            </a:pPr>
            <a:r>
              <a:t>02  —  Sample 1: Pipeline Health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73152" cy="1234440"/>
          </a:xfrm>
          <a:prstGeom prst="rect">
            <a:avLst/>
          </a:prstGeom>
          <a:solidFill>
            <a:srgbClr val="3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DB8A0"/>
                </a:solidFill>
                <a:latin typeface="Calibri"/>
              </a:defRPr>
            </a:pPr>
            <a:r>
              <a:t>67.7%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A0B8"/>
                </a:solidFill>
                <a:latin typeface="Calibri"/>
              </a:defRPr>
            </a:pPr>
            <a:r>
              <a:t>Approved–Complete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77724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777240"/>
            <a:ext cx="73152" cy="1234440"/>
          </a:xfrm>
          <a:prstGeom prst="rect">
            <a:avLst/>
          </a:prstGeom>
          <a:solidFill>
            <a:srgbClr val="F0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960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0A05A"/>
                </a:solidFill>
                <a:latin typeface="Calibri"/>
              </a:defRPr>
            </a:pPr>
            <a:r>
              <a:t>98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463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A0B8"/>
                </a:solidFill>
                <a:latin typeface="Calibri"/>
              </a:defRPr>
            </a:pPr>
            <a:r>
              <a:t>Median New→Complete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77724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777240"/>
            <a:ext cx="73152" cy="1234440"/>
          </a:xfrm>
          <a:prstGeom prst="rect">
            <a:avLst/>
          </a:prstGeom>
          <a:solidFill>
            <a:srgbClr val="6B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960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6B9FD4"/>
                </a:solidFill>
                <a:latin typeface="Calibri"/>
              </a:defRPr>
            </a:pPr>
            <a:r>
              <a:t>102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A0B8"/>
                </a:solidFill>
                <a:latin typeface="Calibri"/>
              </a:defRPr>
            </a:pPr>
            <a:r>
              <a:t>Still in-flight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77724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777240"/>
            <a:ext cx="73152" cy="1234440"/>
          </a:xfrm>
          <a:prstGeom prst="rect">
            <a:avLst/>
          </a:prstGeom>
          <a:solidFill>
            <a:srgbClr val="E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960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07A7A"/>
                </a:solidFill>
                <a:latin typeface="Calibri"/>
              </a:defRPr>
            </a:pPr>
            <a:r>
              <a:t>6.7%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463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A0B8"/>
                </a:solidFill>
                <a:latin typeface="Calibri"/>
              </a:defRPr>
            </a:pPr>
            <a:r>
              <a:t>Cancelled</a:t>
            </a:r>
          </a:p>
        </p:txBody>
      </p:sp>
      <p:pic>
        <p:nvPicPr>
          <p:cNvPr id="20" name="Picture 19" descr="01_pipeline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40280"/>
            <a:ext cx="5852160" cy="4206240"/>
          </a:xfrm>
          <a:prstGeom prst="rect">
            <a:avLst/>
          </a:prstGeom>
        </p:spPr>
      </p:pic>
      <p:pic>
        <p:nvPicPr>
          <p:cNvPr id="21" name="Picture 20" descr="07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86000"/>
            <a:ext cx="5577840" cy="18288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217920" y="4297680"/>
            <a:ext cx="5577840" cy="2103120"/>
          </a:xfrm>
          <a:prstGeom prst="roundRect">
            <a:avLst>
              <a:gd name="adj" fmla="val 8000"/>
            </a:avLst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48056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DB8A0"/>
                </a:solidFill>
                <a:latin typeface="Calibri"/>
              </a:defRPr>
            </a:pPr>
            <a:r>
              <a:t>Key read</a:t>
            </a:r>
          </a:p>
          <a:p>
            <a:pPr>
              <a:spcAft>
                <a:spcPts val="600"/>
              </a:spcAft>
              <a:defRPr sz="1200" b="0">
                <a:solidFill>
                  <a:srgbClr val="C5D4E8"/>
                </a:solidFill>
                <a:latin typeface="Calibri"/>
              </a:defRPr>
            </a:pPr>
            <a:r>
              <a:t>Two-thirds of requests finish, but the typical journey takes ~3 months. Roughly 1 in 4 requests are still open or cancelled — a material operational backlog concentrated in broker and MLS approval waits.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EEF5"/>
                </a:solidFill>
                <a:latin typeface="Calibri"/>
              </a:defRPr>
            </a:pPr>
            <a:r>
              <a:t>03  —  Sample 1: Where Time Is Lost</a:t>
            </a:r>
          </a:p>
        </p:txBody>
      </p:sp>
      <p:pic>
        <p:nvPicPr>
          <p:cNvPr id="4" name="Picture 3" descr="02_stage_ti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400800" cy="3474720"/>
          </a:xfrm>
          <a:prstGeom prst="rect">
            <a:avLst/>
          </a:prstGeom>
        </p:spPr>
      </p:pic>
      <p:pic>
        <p:nvPicPr>
          <p:cNvPr id="5" name="Picture 4" descr="03_completion_by_a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731520"/>
            <a:ext cx="5212080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389120"/>
            <a:ext cx="11064240" cy="2103120"/>
          </a:xfrm>
          <a:prstGeom prst="roundRect">
            <a:avLst>
              <a:gd name="adj" fmla="val 8000"/>
            </a:avLst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3DB8A0"/>
                </a:solidFill>
                <a:latin typeface="Calibri"/>
              </a:defRPr>
            </a:pPr>
            <a:r>
              <a:t>Executive insights</a:t>
            </a:r>
          </a:p>
          <a:p>
            <a:pPr>
              <a:spcAft>
                <a:spcPts val="600"/>
              </a:spcAft>
              <a:defRPr sz="1300" b="0">
                <a:solidFill>
                  <a:srgbClr val="C5D4E8"/>
                </a:solidFill>
                <a:latin typeface="Calibri"/>
              </a:defRPr>
            </a:pPr>
            <a:r>
              <a:t>1. Front-loaded delay: New → Ready for Compliance alone is ~58 median days — the largest single stage gap. Compliance readiness is the primary cycle-time driver.</a:t>
            </a:r>
          </a:p>
          <a:p>
            <a:pPr>
              <a:spcAft>
                <a:spcPts val="600"/>
              </a:spcAft>
              <a:defRPr sz="1300" b="0">
                <a:solidFill>
                  <a:srgbClr val="C5D4E8"/>
                </a:solidFill>
                <a:latin typeface="Calibri"/>
              </a:defRPr>
            </a:pPr>
            <a:r>
              <a:t>2. Broker approval is the live bottleneck: Pending–Broker waits ~14 median days to provisioning (vs ~3 days from Pending–MLS). 33 broker-pending + 31 MLS-pending items dominate the open queue.</a:t>
            </a:r>
          </a:p>
          <a:p>
            <a:pPr>
              <a:spcAft>
                <a:spcPts val="600"/>
              </a:spcAft>
              <a:defRPr sz="1300" b="0">
                <a:solidFill>
                  <a:srgbClr val="C5D4E8"/>
                </a:solidFill>
                <a:latin typeface="Calibri"/>
              </a:defRPr>
            </a:pPr>
            <a:r>
              <a:t>3. Back Office underperforms IDX: 55% vs 80% completion. Nearly every MLS is requested as an IDX+Back Office pair (195 of 200 pairs) — Back Office drag pulls down overall activation success.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EEF5"/>
                </a:solidFill>
                <a:latin typeface="Calibri"/>
              </a:defRPr>
            </a:pPr>
            <a:r>
              <a:t>04  —  Sample 2: Implementation Landscape</a:t>
            </a:r>
          </a:p>
        </p:txBody>
      </p:sp>
      <p:pic>
        <p:nvPicPr>
          <p:cNvPr id="4" name="Picture 3" descr="04_s2_feed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7132320" cy="3657600"/>
          </a:xfrm>
          <a:prstGeom prst="rect">
            <a:avLst/>
          </a:prstGeom>
        </p:spPr>
      </p:pic>
      <p:pic>
        <p:nvPicPr>
          <p:cNvPr id="5" name="Picture 4" descr="05_s2_days_by_prod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85800"/>
            <a:ext cx="4572000" cy="365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526280"/>
            <a:ext cx="11064240" cy="1965960"/>
          </a:xfrm>
          <a:prstGeom prst="roundRect">
            <a:avLst>
              <a:gd name="adj" fmla="val 8000"/>
            </a:avLst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106070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6B9FD4"/>
                </a:solidFill>
                <a:latin typeface="Calibri"/>
              </a:defRPr>
            </a:pPr>
            <a:r>
              <a:t>Executive insights</a:t>
            </a:r>
          </a:p>
          <a:p>
            <a:pPr>
              <a:spcAft>
                <a:spcPts val="600"/>
              </a:spcAft>
              <a:defRPr sz="1300" b="0">
                <a:solidFill>
                  <a:srgbClr val="C5D4E8"/>
                </a:solidFill>
                <a:latin typeface="Calibri"/>
              </a:defRPr>
            </a:pPr>
            <a:r>
              <a:t>1. Electronic channels are faster: Trestle/Grid median ~12–13 days open vs Hard Copy ~22 days and Member-Initiated ~26–38 days. Paper and member-driven setups create outsized friction.</a:t>
            </a:r>
          </a:p>
          <a:p>
            <a:pPr>
              <a:spcAft>
                <a:spcPts val="600"/>
              </a:spcAft>
              <a:defRPr sz="1300" b="0">
                <a:solidFill>
                  <a:srgbClr val="C5D4E8"/>
                </a:solidFill>
                <a:latin typeface="Calibri"/>
              </a:defRPr>
            </a:pPr>
            <a:r>
              <a:t>2. Back Office feeds stay open longer (median 26d) than IDX (13d) — consistent with Sample 1’s lower Back Office completion. VOW is smaller volume but can have long-tail outliers.</a:t>
            </a:r>
          </a:p>
          <a:p>
            <a:pPr>
              <a:spcAft>
                <a:spcPts val="600"/>
              </a:spcAft>
              <a:defRPr sz="1300" b="0">
                <a:solidFill>
                  <a:srgbClr val="C5D4E8"/>
                </a:solidFill>
                <a:latin typeface="Calibri"/>
              </a:defRPr>
            </a:pPr>
            <a:r>
              <a:t>3. Hard Copy still ~29% of assets — a clear modernization opportunity to shift volume toward electronic Trestle/Grid agreements.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EEF5"/>
                </a:solidFill>
                <a:latin typeface="Calibri"/>
              </a:defRPr>
            </a:pPr>
            <a:r>
              <a:t>05  —  How the Two Datasets Relate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22960"/>
            <a:ext cx="11064240" cy="1828800"/>
          </a:xfrm>
          <a:prstGeom prst="roundRect">
            <a:avLst>
              <a:gd name="adj" fmla="val 8000"/>
            </a:avLst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DB8A0"/>
                </a:solidFill>
                <a:latin typeface="Calibri"/>
              </a:defRPr>
            </a:pPr>
            <a:r>
              <a:t>Same domain, different grain</a:t>
            </a:r>
          </a:p>
          <a:p>
            <a:pPr>
              <a:spcAft>
                <a:spcPts val="600"/>
              </a:spcAft>
              <a:defRPr sz="1300" b="0">
                <a:solidFill>
                  <a:srgbClr val="C5D4E8"/>
                </a:solidFill>
                <a:latin typeface="Calibri"/>
              </a:defRPr>
            </a:pPr>
            <a:r>
              <a:t>Sample 1 is the transactional workflow for activating a broker’s feed against an MLS (request → approvals → live). Sample 2 is the MLS asset catalog describing how each MLS feed connection was contractually/technically implemented and how long that setup stayed open. ~140 MLS names overlap — Sample 1 requests run on top of Sample 2’s MLS feed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26080"/>
            <a:ext cx="3566160" cy="3383280"/>
          </a:xfrm>
          <a:prstGeom prst="roundRect">
            <a:avLst>
              <a:gd name="adj" fmla="val 8000"/>
            </a:avLst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DB8A0"/>
                </a:solidFill>
                <a:latin typeface="Calibri"/>
              </a:defRPr>
            </a:pPr>
            <a:r>
              <a:t>Shared entities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661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5D4E8"/>
                </a:solidFill>
                <a:latin typeface="Calibri"/>
              </a:defRPr>
            </a:pPr>
            <a:r>
              <a:t>MLS / Asset Name is the join key.</a:t>
            </a:r>
          </a:p>
          <a:p>
            <a:pPr>
              <a:spcAft>
                <a:spcPts val="600"/>
              </a:spcAft>
              <a:defRPr sz="400" b="0">
                <a:solidFill>
                  <a:srgbClr val="E8EEF5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C5D4E8"/>
                </a:solidFill>
                <a:latin typeface="Calibri"/>
              </a:defRPr>
            </a:pPr>
            <a:r>
              <a:t>Both classify feeds as IDX, Back Office, or VOW.</a:t>
            </a:r>
          </a:p>
          <a:p>
            <a:pPr>
              <a:spcAft>
                <a:spcPts val="600"/>
              </a:spcAft>
              <a:defRPr sz="400" b="0">
                <a:solidFill>
                  <a:srgbClr val="E8EEF5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C5D4E8"/>
                </a:solidFill>
                <a:latin typeface="Calibri"/>
              </a:defRPr>
            </a:pPr>
            <a:r>
              <a:t>Agreement channels align: Trestle, MLS Grid, CWS, and member/broker-initiated appear in both.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926080"/>
            <a:ext cx="3566160" cy="3383280"/>
          </a:xfrm>
          <a:prstGeom prst="roundRect">
            <a:avLst>
              <a:gd name="adj" fmla="val 8000"/>
            </a:avLst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A05A"/>
                </a:solidFill>
                <a:latin typeface="Calibri"/>
              </a:defRPr>
            </a:pPr>
            <a:r>
              <a:t>Complementary 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5661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5D4E8"/>
                </a:solidFill>
                <a:latin typeface="Calibri"/>
              </a:defRPr>
            </a:pPr>
            <a:r>
              <a:t>S1 measures stage-level cycle time for each request (Q–X dates).</a:t>
            </a:r>
          </a:p>
          <a:p>
            <a:pPr>
              <a:spcAft>
                <a:spcPts val="600"/>
              </a:spcAft>
              <a:defRPr sz="400" b="0">
                <a:solidFill>
                  <a:srgbClr val="E8EEF5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C5D4E8"/>
                </a:solidFill>
                <a:latin typeface="Calibri"/>
              </a:defRPr>
            </a:pPr>
            <a:r>
              <a:t>S2 measures days-open for the underlying MLS feed implementation.</a:t>
            </a:r>
          </a:p>
          <a:p>
            <a:pPr>
              <a:spcAft>
                <a:spcPts val="600"/>
              </a:spcAft>
              <a:defRPr sz="400" b="0">
                <a:solidFill>
                  <a:srgbClr val="E8EEF5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C5D4E8"/>
                </a:solidFill>
                <a:latin typeface="Calibri"/>
              </a:defRPr>
            </a:pPr>
            <a:r>
              <a:t>Together: infrastructure friction (S2) + request workflow friction (S1).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926080"/>
            <a:ext cx="3566160" cy="3383280"/>
          </a:xfrm>
          <a:prstGeom prst="roundRect">
            <a:avLst>
              <a:gd name="adj" fmla="val 8000"/>
            </a:avLst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108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9FD4"/>
                </a:solidFill>
                <a:latin typeface="Calibri"/>
              </a:defRPr>
            </a:pPr>
            <a:r>
              <a:t>Reinforcing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56616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C5D4E8"/>
                </a:solidFill>
                <a:latin typeface="Calibri"/>
              </a:defRPr>
            </a:pPr>
            <a:r>
              <a:t>Electronic methods win in both: Trestle/Grid show higher S1 completion and lower S2 days-open.</a:t>
            </a:r>
          </a:p>
          <a:p>
            <a:pPr>
              <a:spcAft>
                <a:spcPts val="600"/>
              </a:spcAft>
              <a:defRPr sz="400" b="0">
                <a:solidFill>
                  <a:srgbClr val="E8EEF5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C5D4E8"/>
                </a:solidFill>
                <a:latin typeface="Calibri"/>
              </a:defRPr>
            </a:pPr>
            <a:r>
              <a:t>Back Office is harder in both datasets — lower completion (S1) and longer open times (S2).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EEF5"/>
                </a:solidFill>
                <a:latin typeface="Calibri"/>
              </a:defRPr>
            </a:pPr>
            <a:r>
              <a:t>06  —  Executive Takeaways &amp; Actions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77724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777240"/>
            <a:ext cx="91440" cy="1234440"/>
          </a:xfrm>
          <a:prstGeom prst="rect">
            <a:avLst/>
          </a:prstGeom>
          <a:solidFill>
            <a:srgbClr val="3DB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B8A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9418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EF5"/>
                </a:solidFill>
                <a:latin typeface="Calibri"/>
              </a:defRPr>
            </a:pPr>
            <a:r>
              <a:t>Compress compliance 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2801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5D4E8"/>
                </a:solidFill>
                <a:latin typeface="Calibri"/>
              </a:defRPr>
            </a:pPr>
            <a:r>
              <a:t>The New → Ready-for-Compliance gap (~58 median days) dominates cycle time. Standardize packet requirements and auto-validate display URL / rules / logo artifacts before a ticket enters the queue.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4884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48840"/>
            <a:ext cx="91440" cy="1234440"/>
          </a:xfrm>
          <a:prstGeom prst="rect">
            <a:avLst/>
          </a:prstGeom>
          <a:solidFill>
            <a:srgbClr val="F0A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A05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134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EF5"/>
                </a:solidFill>
                <a:latin typeface="Calibri"/>
              </a:defRPr>
            </a:pPr>
            <a:r>
              <a:t>Attack the broker-approval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6517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5D4E8"/>
                </a:solidFill>
                <a:latin typeface="Calibri"/>
              </a:defRPr>
            </a:pPr>
            <a:r>
              <a:t>Pending–Broker is the largest live backlog and a slower gate than MLS approval. Add broker SLAs, reminders, and self-serve approval (BAM/PAM/dashboard) to cut the ~14-day median wait.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4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520440"/>
            <a:ext cx="91440" cy="1234440"/>
          </a:xfrm>
          <a:prstGeom prst="rect">
            <a:avLst/>
          </a:prstGeom>
          <a:solidFill>
            <a:srgbClr val="6B9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576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9FD4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685032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EF5"/>
                </a:solidFill>
                <a:latin typeface="Calibri"/>
              </a:defRPr>
            </a:pPr>
            <a:r>
              <a:t>Fix Back Office specifically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0233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5D4E8"/>
                </a:solidFill>
                <a:latin typeface="Calibri"/>
              </a:defRPr>
            </a:pPr>
            <a:r>
              <a:t>Back Office completes at 55% vs IDX at 80%, and stays open nearly 2× as long in Sample 2. Treat Back Office as a separate product workstream — not a twin of IDX.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8000"/>
            </a:avLst>
          </a:prstGeom>
          <a:solidFill>
            <a:srgbClr val="1A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892040"/>
            <a:ext cx="91440" cy="1234440"/>
          </a:xfrm>
          <a:prstGeom prst="rect">
            <a:avLst/>
          </a:prstGeom>
          <a:solidFill>
            <a:srgbClr val="C08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0292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08AE0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56631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EF5"/>
                </a:solidFill>
                <a:latin typeface="Calibri"/>
              </a:defRPr>
            </a:pPr>
            <a:r>
              <a:t>Migrate off Hard Copy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394959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5D4E8"/>
                </a:solidFill>
                <a:latin typeface="Calibri"/>
              </a:defRPr>
            </a:pPr>
            <a:r>
              <a:t>~29% of Sample 2 assets still use Hard Copy (median 22d open vs ~13d electronic). Prioritize Trestle/Grid conversion for high-volume MLSs to reduce implementation friction upstream of onboarding.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